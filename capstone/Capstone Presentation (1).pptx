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italic.fntdata"/><Relationship Id="rId12" Type="http://schemas.openxmlformats.org/officeDocument/2006/relationships/slide" Target="slides/slide7.xml"/><Relationship Id="rId34" Type="http://schemas.openxmlformats.org/officeDocument/2006/relationships/font" Target="fonts/Robo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d0b9c542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d0b9c542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512b937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512b937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5f4c723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5f4c723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5512b9378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5512b9378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512b9378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512b9378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52ac615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52ac615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aa4a980f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aa4a980f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aa4a980f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aa4a980f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52ac615c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52ac615c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52ac615c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52ac615c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389c2ab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389c2ab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389c2ab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389c2ab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389c2aba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389c2aba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389c2aba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389c2aba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389c2aba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389c2aba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389c2aba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389c2aba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aa221da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aa221da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aa4a980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aa4a980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aa4a980f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5aa4a980f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aa4a980f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aa4a980f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389c2aba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389c2aba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aa4a980f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aa4a980f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389c2aba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389c2aba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389c2aba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389c2aba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389c2aba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5389c2aba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389c2aba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389c2aba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andrewkchan.dev/posts/fire.html" TargetMode="External"/><Relationship Id="rId4" Type="http://schemas.openxmlformats.org/officeDocument/2006/relationships/hyperlink" Target="https://student.cs.uwaterloo.ca/~cs475/CS475-Lecture04.pdf" TargetMode="External"/><Relationship Id="rId5" Type="http://schemas.openxmlformats.org/officeDocument/2006/relationships/hyperlink" Target="https://people.uncw.edu/hermanr/pde1/PDEbook/Numerical.pdf" TargetMode="External"/><Relationship Id="rId6" Type="http://schemas.openxmlformats.org/officeDocument/2006/relationships/hyperlink" Target="https://www.uni-muenster.de/imperia/md/content/physik_tp/lectures/ws2016-2017/num_methods_i/advection.pdf" TargetMode="External"/><Relationship Id="rId7" Type="http://schemas.openxmlformats.org/officeDocument/2006/relationships/hyperlink" Target="https://maths.ucd.ie/met/msc/fezzik/Numer-Met/Linear_Advection.pdf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Advection-Diffusion w/ Finite Difference Method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Ayden Wolgamott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441025"/>
            <a:ext cx="8520600" cy="6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Why Advection-Diffusion?</a:t>
            </a:r>
            <a:endParaRPr sz="25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1050625"/>
            <a:ext cx="4645800" cy="40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Wanted to be able to model the movements of forest fire using PDEs</a:t>
            </a:r>
            <a:endParaRPr sz="2000">
              <a:solidFill>
                <a:schemeClr val="dk1"/>
              </a:solidFill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Proved to be way over my head</a:t>
            </a:r>
            <a:endParaRPr sz="2000">
              <a:solidFill>
                <a:schemeClr val="dk1"/>
              </a:solidFill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Led me to look into natural characteristics in fluid dynamics which are also crucial in how fire spreads</a:t>
            </a:r>
            <a:endParaRPr sz="2000">
              <a:solidFill>
                <a:schemeClr val="dk1"/>
              </a:solidFill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Brought me to advection and diffusion, proving to be great eq.’s for me to learn FDM using Maple!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900" y="0"/>
            <a:ext cx="40341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Differential Equation (PDE):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0" y="1152475"/>
            <a:ext cx="5133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 PDE is an equation which involves a multivariable function along with one or more of it’s partial derivatives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Heat Equation: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(where αlpha is conductivity/(specific heat*density))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heat equation is first order time and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order position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its creation, the heat equation has been fundamental to mathematics and developing science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Here’s a 3D plot of the equation: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600" y="1017725"/>
            <a:ext cx="4010400" cy="392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0525" y="2349300"/>
            <a:ext cx="1930600" cy="32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Finite Difference Method (FDM):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0" y="1152475"/>
            <a:ext cx="57132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4194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>
                <a:solidFill>
                  <a:schemeClr val="dk1"/>
                </a:solidFill>
                <a:highlight>
                  <a:schemeClr val="lt1"/>
                </a:highlight>
              </a:rPr>
              <a:t>FDM is </a:t>
            </a:r>
            <a:r>
              <a:rPr lang="en" sz="2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numerical technique used to approximate solutions/derivatives to differential equations by discretizing them. 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194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>
                <a:solidFill>
                  <a:schemeClr val="dk1"/>
                </a:solidFill>
              </a:rPr>
              <a:t>Take your governing equation 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(ex. y”- y’- y = 0)</a:t>
            </a:r>
            <a:endParaRPr sz="2100">
              <a:solidFill>
                <a:schemeClr val="dk1"/>
              </a:solidFill>
            </a:endParaRPr>
          </a:p>
          <a:p>
            <a:pPr indent="-341947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>
                <a:solidFill>
                  <a:schemeClr val="dk1"/>
                </a:solidFill>
              </a:rPr>
              <a:t>Set initial conditions/boundaries 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(ex. y(0,t) = 0, y(x_max,t) = 10, y(x,0) = f(x))</a:t>
            </a:r>
            <a:endParaRPr sz="2100">
              <a:solidFill>
                <a:schemeClr val="dk1"/>
              </a:solidFill>
            </a:endParaRPr>
          </a:p>
          <a:p>
            <a:pPr indent="-341947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00">
                <a:solidFill>
                  <a:schemeClr val="dk1"/>
                </a:solidFill>
              </a:rPr>
              <a:t>Approximate your derivatives using forward, backward, or central difference method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6550" y="1243750"/>
            <a:ext cx="3367451" cy="34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Forward, Backward, and Central Difference Method: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Using a Taylor series expansion, the first derivative can be approximated as: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chemeClr val="dk1"/>
                </a:solidFill>
              </a:rPr>
              <a:t>Forward Difference</a:t>
            </a:r>
            <a:r>
              <a:rPr lang="en">
                <a:solidFill>
                  <a:schemeClr val="dk1"/>
                </a:solidFill>
              </a:rPr>
              <a:t>: ∂u/∂x ≈ (u(x + Δx) − u(x))/Δx, </a:t>
            </a:r>
            <a:r>
              <a:rPr lang="en">
                <a:solidFill>
                  <a:schemeClr val="dk1"/>
                </a:solidFill>
              </a:rPr>
              <a:t>x exists at (x + Δx)/2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chemeClr val="dk1"/>
                </a:solidFill>
              </a:rPr>
              <a:t>Backward Difference</a:t>
            </a:r>
            <a:r>
              <a:rPr lang="en">
                <a:solidFill>
                  <a:schemeClr val="dk1"/>
                </a:solidFill>
              </a:rPr>
              <a:t>: ∂u/∂x ≈ (u(x) - u(x - Δx) )/Δx, x exists at (x - Δx)/2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chemeClr val="dk1"/>
                </a:solidFill>
              </a:rPr>
              <a:t>Central Difference</a:t>
            </a:r>
            <a:r>
              <a:rPr lang="en">
                <a:solidFill>
                  <a:schemeClr val="dk1"/>
                </a:solidFill>
              </a:rPr>
              <a:t>: ∂u/∂x ≈ (u(x + Δx) − u(x − Δx))/2Δx, x exists at x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method is more accurate than the forward or backward difference since it uses a larger spatial range under u.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FDM Continued…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Discretize using i,j notation (so instead                    , where i ∈ 0, ..., m and j ∈ 0, ..., n)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 a scheme to solve for the unknown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 a matrix based on number of spatial steps (m) and time steps (n) (mxn matrix)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Insert boundary conditions into matrix and let the scheme do the rest of the work for the unknown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 finalized matrix to help plot the FDM solution on a 3D graph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Preferable to use some sort of software to do the last two steps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125" y="1266975"/>
            <a:ext cx="1178525" cy="29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3575" y="2052850"/>
            <a:ext cx="3026700" cy="29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Advection PDE: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0" y="1228675"/>
            <a:ext cx="87459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very important natural phenomenon associated with fire is advection. 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Advection is the transport of a substance such as smoke or particles by the motion of a fluid (liquid or gas). 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Advection describes how the substance moves with the flow of the medium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 in the case of a fire, it is combustion gases and particles being advected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</a:rPr>
              <a:t>                     </a:t>
            </a:r>
            <a:r>
              <a:rPr lang="en">
                <a:solidFill>
                  <a:schemeClr val="lt1"/>
                </a:solidFill>
              </a:rPr>
              <a:t>         </a:t>
            </a:r>
            <a:r>
              <a:rPr lang="en">
                <a:solidFill>
                  <a:schemeClr val="dk1"/>
                </a:solidFill>
              </a:rPr>
              <a:t>(typical linear advection PDE)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00" y="4039250"/>
            <a:ext cx="1806175" cy="3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Convection vs. Advection: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Convection is the movement of a fluid, in response to temperature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5" name="Google Shape;105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Advection is transport of the substance within the fluid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950" y="2058175"/>
            <a:ext cx="3999900" cy="251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4675" y="2058175"/>
            <a:ext cx="3817625" cy="251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394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Refers to the movement of particles from an area of high concentration to low concentration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Leads to equal distribution of particles through a system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162425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PDE: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be easily confused with advection 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Looks deeper to the molecular level where agitation and/or small-scale turbulent or chaotic motions (wind) act to move substances randomly with respect to the mean motion of fluid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 this case combustion gases and particles are also being diffused as a result of airflow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                                   </a:t>
            </a:r>
            <a:r>
              <a:rPr lang="en">
                <a:solidFill>
                  <a:schemeClr val="dk1"/>
                </a:solidFill>
              </a:rPr>
              <a:t>(diffusion PDE)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825" y="4527450"/>
            <a:ext cx="2137475" cy="3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Advection-Diffusion Equation: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8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What makes advection and diffusion convenient is we can combine them to make one PDE!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They also both affect the same substances as a result of airflow! (particles and combustion gases)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Since both PDEs are equal to </a:t>
            </a:r>
            <a:r>
              <a:rPr lang="en">
                <a:solidFill>
                  <a:schemeClr val="dk1"/>
                </a:solidFill>
              </a:rPr>
              <a:t>∂u/∂t, all we have to do is add a diffusion term to the end of the advection equation:</a:t>
            </a:r>
            <a:endParaRPr>
              <a:solidFill>
                <a:schemeClr val="dk1"/>
              </a:solidFill>
            </a:endParaRPr>
          </a:p>
          <a:p>
            <a:pPr indent="457200" lvl="0" marL="1828800" rtl="0" algn="l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7575" y="3812575"/>
            <a:ext cx="4881950" cy="4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222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Initial Conditions/Boundaries: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936525"/>
            <a:ext cx="8520600" cy="4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u(0, t) = 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u(N, t) = 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v(x, t) = 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u(x,0) = Asin(wx) where A = 1, and w = 1 in this case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This is because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This will give us a much more realistic solution to our advection-diffusion PDE because flame theory is heavily involved with fluid dynamics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363" y="3462250"/>
            <a:ext cx="36290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438" y="2400300"/>
            <a:ext cx="11144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Approximate Derivatives Using Central Difference: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dk1"/>
                </a:solidFill>
              </a:rPr>
              <a:t>PDE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dk1"/>
                </a:solidFill>
              </a:rPr>
              <a:t>PDE Approximation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k = ∆t, h = ∆x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dk1"/>
                </a:solidFill>
              </a:rPr>
              <a:t>Scheme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075" y="1152475"/>
            <a:ext cx="7340375" cy="4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7075" y="4248475"/>
            <a:ext cx="734037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7075" y="2348025"/>
            <a:ext cx="734037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118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Resulting Matrix from ICs and Scheme (Maple using FDM):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496475"/>
            <a:ext cx="8520600" cy="3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8508"/>
            <a:ext cx="9144001" cy="4104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147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3D Plot (FDM):</a:t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152475"/>
            <a:ext cx="626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0400"/>
            <a:ext cx="8270226" cy="442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192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3D Plot using pdesolve() (Maple function for PDEs):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152475"/>
            <a:ext cx="679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5000"/>
            <a:ext cx="9144001" cy="43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11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FDM and pdsolve() Plots </a:t>
            </a:r>
            <a:r>
              <a:rPr lang="en"/>
              <a:t>Overlaid</a:t>
            </a:r>
            <a:r>
              <a:rPr lang="en"/>
              <a:t>: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90675"/>
            <a:ext cx="9144000" cy="445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Velocity:</a:t>
            </a:r>
            <a:endParaRPr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v(x, t) = x (instead of just 1)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This will provide us a more realistic model knowing that velocity can and will change due to outside factors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100" y="1687450"/>
            <a:ext cx="1352875" cy="4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88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Resulting 3D Plot from New ICs and Scheme (FDM):</a:t>
            </a:r>
            <a:endParaRPr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632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0950"/>
            <a:ext cx="8404026" cy="448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3D Plot from New ICs and Scheme (Maple pdsolve()):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942450"/>
            <a:ext cx="8520600" cy="17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64650"/>
            <a:ext cx="9144000" cy="31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COULD THIS HAPPEN???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numerical method </a:t>
            </a:r>
            <a:r>
              <a:rPr lang="en">
                <a:solidFill>
                  <a:schemeClr val="dk1"/>
                </a:solidFill>
              </a:rPr>
              <a:t>performed better than Maple’s very own pdsolve()!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pdsolve() </a:t>
            </a:r>
            <a:r>
              <a:rPr lang="en">
                <a:solidFill>
                  <a:schemeClr val="dk1"/>
                </a:solidFill>
              </a:rPr>
              <a:t>excelled</a:t>
            </a:r>
            <a:r>
              <a:rPr lang="en">
                <a:solidFill>
                  <a:schemeClr val="dk1"/>
                </a:solidFill>
              </a:rPr>
              <a:t> in providing the exact solution to the constant coefficient PDE, but struggled when v(x, t) = x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FDM however, didn’t seem to have a problem at all in implementing a solution to our upgraded PDE and even plotted it for us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There was clearly diverging behavior but FDM still solved it (and quickly!)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Intuitively this makes some sense because all we have to do in this case is implement another i or j into our scheme to start the numerical calculations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 (What Actually Happened):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15260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pdsolve() failed because it is a symbolic solver trying to find exact solutions using analytical techniques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This can only work when the PDE is linear, or has constant coefficients, or can be reduced to an ODE, or has known Laplace transforms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In this case, our PDE is linear but has a variable coefficient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This caused our pdsolve() function to keep </a:t>
            </a:r>
            <a:r>
              <a:rPr lang="en" sz="2000">
                <a:solidFill>
                  <a:schemeClr val="dk1"/>
                </a:solidFill>
              </a:rPr>
              <a:t>itself</a:t>
            </a:r>
            <a:r>
              <a:rPr lang="en" sz="2000">
                <a:solidFill>
                  <a:schemeClr val="dk1"/>
                </a:solidFill>
              </a:rPr>
              <a:t> in a constant state of evaluation w/ no solution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Continued…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11700" y="113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FDM succeeds because the domain is discretized and derivatives are approximated numerically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This allows us to solve very complex/nonlinear PDEs w/out exact solutions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FDM doesn’t falter just because the equation cannot be solved symbolically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Interpretation/Conclusions:</a:t>
            </a:r>
            <a:endParaRPr/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311700" y="901850"/>
            <a:ext cx="8520600" cy="39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Symbolic solvers are extremely fragile but produce amazing visuals 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be great for learning and quick insight for specific, well-behaved PDEs.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Do not expect them to work for PDEs with variable coefficients, nonlinear terms, or irregular domains.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Numerical methods serve to be much more flexible when considering new ICs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Almost every practical PDE system (fluid dynamics, heat transfer, etc.) is solved numerically.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Try pdsolve() for small, simple cases (w/ constant coefficients for example)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 FDM, or other numerical methods for general, complex PDEs.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Considerations:</a:t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017725"/>
            <a:ext cx="45936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Higher dimensional models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(3D, add a ‘y’ term)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Nonlinear and chaotic systems (other nonlinear PDEs w/ turbulence model)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Integration with real data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Comparison with other numerical methods such as FEM, and FVM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Fire in fireplace (Provided by Getty Images)"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300" y="0"/>
            <a:ext cx="42387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207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</a:t>
            </a:r>
            <a:endParaRPr/>
          </a:p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311700" y="779875"/>
            <a:ext cx="8520600" cy="43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Arnold et. al (n.d.). </a:t>
            </a:r>
            <a:r>
              <a:rPr i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 Simulation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Overview - Fire Simulation &lt;br&gt; Lecture Notes. https://firedynamics.github.io/LectureFireSimulation/content/overview/01_overview.html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Chan, A. (n.d.). </a:t>
            </a:r>
            <a:r>
              <a:rPr i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Simulating Fluids, Fire, and Smoke in Real-Time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https://andrewkchan.dev/posts/fire.html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Ciarochi, J. (2020, August 4). </a:t>
            </a:r>
            <a:r>
              <a:rPr i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fire spreads: Mathematical models and simulators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DEV Community. https://dev.to/triplebyte/how-fire-spreads-mathematical-models-and-simulators-395c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https://student.cs.uwaterloo.ca/~cs475/CS475-Lecture04.pdf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Herman, R. (2015, June 19). </a:t>
            </a:r>
            <a:r>
              <a:rPr i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partial differential equations.</a:t>
            </a:r>
            <a:r>
              <a:rPr lang="en" sz="1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https://people.uncw.edu/hermanr/pde1/PDEbook/Numerical.pdf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https://www.uni-muenster.de/imperia/md/content/physik_tp/lectures/ws2016-2017/num_methods_i/advection.pdf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Duffy, P. (n.d.). </a:t>
            </a:r>
            <a:r>
              <a:rPr i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introduction to finite difference methods for advection problems.</a:t>
            </a:r>
            <a:r>
              <a:rPr lang="en" sz="1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https://maths.ucd.ie/met/msc/fezzik/Numer-Met/Linear_Advection.pdf</a:t>
            </a:r>
            <a:endParaRPr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0" y="5048025"/>
            <a:ext cx="114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26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7100">
                <a:solidFill>
                  <a:schemeClr val="dk1"/>
                </a:solidFill>
              </a:rPr>
              <a:t>Thank you!</a:t>
            </a:r>
            <a:endParaRPr sz="7100"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4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